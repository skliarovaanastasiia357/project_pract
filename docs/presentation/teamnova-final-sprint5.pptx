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AMNOVA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11201400" cy="0"/>
          </a:xfrm>
          <a:prstGeom prst="line">
            <a:avLst/>
          </a:prstGeom>
          <a:noFill/>
          <a:ln w="12700">
            <a:solidFill>
              <a:srgbClr val="DDE1E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164592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F44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TEAMNOVA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0241280" y="16459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19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Sprint 5 final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008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B919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008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B919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480560" cy="6858000"/>
          </a:xfrm>
          <a:prstGeom prst="rect">
            <a:avLst/>
          </a:prstGeom>
          <a:solidFill>
            <a:srgbClr val="2D313A"/>
          </a:solidFill>
          <a:ln w="12700">
            <a:solidFill>
              <a:srgbClr val="2D313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73152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TEAMNOVA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1828800"/>
            <a:ext cx="3154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Финальная версия MVP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749808" y="3127248"/>
            <a:ext cx="3154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7CDD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Спринт 5 · 15.05–28.05 · платформа для подбора участников и формирования IT-команд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983480" y="914400"/>
            <a:ext cx="626364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983480" y="914400"/>
            <a:ext cx="73152" cy="1051560"/>
          </a:xfrm>
          <a:prstGeom prst="rect">
            <a:avLst/>
          </a:prstGeom>
          <a:solidFill>
            <a:srgbClr val="48A7FF"/>
          </a:solidFill>
          <a:ln w="12700">
            <a:solidFill>
              <a:srgbClr val="48A7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184648" y="1060704"/>
            <a:ext cx="5879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2D31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Суть продукта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184648" y="1444752"/>
            <a:ext cx="58795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47B8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Поиск команд не по резюме и статусам, а по стеку, ролям и конкретным навыкам.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983480" y="2240280"/>
            <a:ext cx="2944368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983480" y="2240280"/>
            <a:ext cx="73152" cy="1143000"/>
          </a:xfrm>
          <a:prstGeom prst="rect">
            <a:avLst/>
          </a:prstGeom>
          <a:solidFill>
            <a:srgbClr val="2F9B66"/>
          </a:solidFill>
          <a:ln w="12700">
            <a:solidFill>
              <a:srgbClr val="2F9B6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184648" y="2386584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2D31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Для капитана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184648" y="27706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47B8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Создать проект, описать стек и получить релевантные отклики.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8275320" y="2240280"/>
            <a:ext cx="297180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75320" y="2240280"/>
            <a:ext cx="73152" cy="1143000"/>
          </a:xfrm>
          <a:prstGeom prst="rect">
            <a:avLst/>
          </a:prstGeom>
          <a:solidFill>
            <a:srgbClr val="DE7D2A"/>
          </a:solidFill>
          <a:ln w="12700">
            <a:solidFill>
              <a:srgbClr val="DE7D2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76488" y="2386584"/>
            <a:ext cx="25877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2D31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Для участника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476488" y="2770632"/>
            <a:ext cx="2587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47B8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Найти проект под свой стек и отправить заявку за один сценарий.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4983480" y="4069080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2477B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4983480" y="4507992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47B8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MVP-модулей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6766560" y="4069080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2477B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80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6766560" y="4507992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47B8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проверок backend suite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8549640" y="4069080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2477B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9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8549640" y="4507992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47B8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задач финального спринта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10332720" y="4069080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2477B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10332720" y="4507992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47B8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единый демо-сценарий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685800" y="63550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8B919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Факты синхронизированы с README, test-plan и текущим кодом репозитория.</a:t>
            </a:r>
            <a:endParaRPr lang="en-US" sz="78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008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B919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13232" y="658368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477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ПРОБЛЕМА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685800" y="960120"/>
            <a:ext cx="7132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2D31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Слепой поиск тормозит сбор команды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13232" y="1783080"/>
            <a:ext cx="6492240" cy="5669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747B8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Капитаны проектов и участники тратят время на шум: чаты, нерелевантные отклики и непонятный стек.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31520" y="2743200"/>
            <a:ext cx="324612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2743200"/>
            <a:ext cx="73152" cy="1417320"/>
          </a:xfrm>
          <a:prstGeom prst="rect">
            <a:avLst/>
          </a:prstGeom>
          <a:solidFill>
            <a:srgbClr val="D45573"/>
          </a:solidFill>
          <a:ln w="12700">
            <a:solidFill>
              <a:srgbClr val="D4557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32688" y="2889504"/>
            <a:ext cx="28620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2D31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Капитан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32688" y="3273552"/>
            <a:ext cx="28620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47B8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Нужны люди под конкретные роли, но входящий поток не отфильтрован по реальным навыкам.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480560" y="2743200"/>
            <a:ext cx="324612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480560" y="2743200"/>
            <a:ext cx="73152" cy="1417320"/>
          </a:xfrm>
          <a:prstGeom prst="rect">
            <a:avLst/>
          </a:prstGeom>
          <a:solidFill>
            <a:srgbClr val="DE7D2A"/>
          </a:solidFill>
          <a:ln w="12700">
            <a:solidFill>
              <a:srgbClr val="DE7D2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81728" y="2889504"/>
            <a:ext cx="28620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2D31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Junior-участник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681728" y="3273552"/>
            <a:ext cx="28620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47B8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Сложно найти проект, где нужен его текущий стек и можно быстро включиться.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8229600" y="2743200"/>
            <a:ext cx="324612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0" y="2743200"/>
            <a:ext cx="73152" cy="1417320"/>
          </a:xfrm>
          <a:prstGeom prst="rect">
            <a:avLst/>
          </a:prstGeom>
          <a:solidFill>
            <a:srgbClr val="48A7FF"/>
          </a:solidFill>
          <a:ln w="12700">
            <a:solidFill>
              <a:srgbClr val="48A7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30768" y="2889504"/>
            <a:ext cx="28620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2D31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Middle/Senior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430768" y="3273552"/>
            <a:ext cx="28620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47B8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Хочет видеть стек и контекст проекта, а не абстрактные требования.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2377440" y="5120640"/>
            <a:ext cx="7406640" cy="0"/>
          </a:xfrm>
          <a:prstGeom prst="line">
            <a:avLst/>
          </a:prstGeom>
          <a:noFill/>
          <a:ln w="25400">
            <a:solidFill>
              <a:srgbClr val="DDE1E6"/>
            </a:solidFill>
            <a:prstDash val="solid"/>
            <a:tailEnd type="triangle"/>
          </a:ln>
        </p:spPr>
      </p:sp>
      <p:sp>
        <p:nvSpPr>
          <p:cNvPr id="18" name="Text 16"/>
          <p:cNvSpPr/>
          <p:nvPr/>
        </p:nvSpPr>
        <p:spPr>
          <a:xfrm>
            <a:off x="2011680" y="5413248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D31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Цель MVP: сократить путь от идеи проекта до первого релевантного отклика.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008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B919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13232" y="658368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477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РЕШЕНИЕ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685800" y="960120"/>
            <a:ext cx="7132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2D31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Матчинг вокруг навыков и проектных ролей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13232" y="1783080"/>
            <a:ext cx="6492240" cy="5669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747B8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Teamnova соединяет профиль участника, карточку проекта, поиск и заявки в один короткий пользовательский путь.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31520" y="2743200"/>
            <a:ext cx="2331720" cy="20574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907792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477B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31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Профиль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3840480"/>
            <a:ext cx="18836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747B8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Имя, описание и навыки участника становятся основой поиска.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 rot="5400000">
            <a:off x="3163824" y="3593592"/>
            <a:ext cx="164592" cy="164592"/>
          </a:xfrm>
          <a:prstGeom prst="triangle">
            <a:avLst/>
          </a:prstGeom>
          <a:solidFill>
            <a:srgbClr val="48A7FF"/>
          </a:solidFill>
          <a:ln w="12700">
            <a:solidFill>
              <a:srgbClr val="48A7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520440" y="2743200"/>
            <a:ext cx="2331720" cy="20574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703320" y="2907792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477B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703320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31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Проект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703320" y="3840480"/>
            <a:ext cx="18836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747B8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Капитан описывает идею, стек и роли для найма.</a:t>
            </a:r>
            <a:endParaRPr lang="en-US" sz="920" dirty="0"/>
          </a:p>
        </p:txBody>
      </p:sp>
      <p:sp>
        <p:nvSpPr>
          <p:cNvPr id="14" name="Shape 12"/>
          <p:cNvSpPr/>
          <p:nvPr/>
        </p:nvSpPr>
        <p:spPr>
          <a:xfrm rot="5400000">
            <a:off x="5952744" y="3593592"/>
            <a:ext cx="164592" cy="164592"/>
          </a:xfrm>
          <a:prstGeom prst="triangle">
            <a:avLst/>
          </a:prstGeom>
          <a:solidFill>
            <a:srgbClr val="48A7FF"/>
          </a:solidFill>
          <a:ln w="12700">
            <a:solidFill>
              <a:srgbClr val="48A7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309360" y="2743200"/>
            <a:ext cx="2331720" cy="20574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2907792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477B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492240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31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Поиск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492240" y="3840480"/>
            <a:ext cx="18836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747B8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Единая строка ищет по стеку, ролям, описанию и навыкам.</a:t>
            </a:r>
            <a:endParaRPr lang="en-US" sz="920" dirty="0"/>
          </a:p>
        </p:txBody>
      </p:sp>
      <p:sp>
        <p:nvSpPr>
          <p:cNvPr id="19" name="Shape 17"/>
          <p:cNvSpPr/>
          <p:nvPr/>
        </p:nvSpPr>
        <p:spPr>
          <a:xfrm rot="5400000">
            <a:off x="8741664" y="3593592"/>
            <a:ext cx="164592" cy="164592"/>
          </a:xfrm>
          <a:prstGeom prst="triangle">
            <a:avLst/>
          </a:prstGeom>
          <a:solidFill>
            <a:srgbClr val="48A7FF"/>
          </a:solidFill>
          <a:ln w="12700">
            <a:solidFill>
              <a:srgbClr val="48A7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098280" y="2743200"/>
            <a:ext cx="2331720" cy="20574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281160" y="2907792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477B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04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9281160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31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Заявка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9281160" y="3840480"/>
            <a:ext cx="18836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747B8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Участник откликается, владелец принимает или отклоняет.</a:t>
            </a:r>
            <a:endParaRPr lang="en-US" sz="9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008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B919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13232" y="658368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477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MVP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685800" y="960120"/>
            <a:ext cx="7132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2D31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Реализован полный рабочий цикл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13232" y="1783080"/>
            <a:ext cx="6492240" cy="5669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747B8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Функциональность закрывает базовый сценарий защиты без лишних модулей.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822960" y="2423160"/>
            <a:ext cx="10378440" cy="438912"/>
          </a:xfrm>
          <a:prstGeom prst="roundRect">
            <a:avLst>
              <a:gd name="adj" fmla="val 8333"/>
            </a:avLst>
          </a:prstGeom>
          <a:solidFill>
            <a:srgbClr val="EEF0F3"/>
          </a:solidFill>
          <a:ln w="6350">
            <a:solidFill>
              <a:srgbClr val="E4E7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51560" y="2523744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31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Идентификация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3200400" y="2523744"/>
            <a:ext cx="7589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747B8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Регистрация, логин, access/refresh-сессии, protected routes</a:t>
            </a:r>
            <a:endParaRPr lang="en-US" sz="1020" dirty="0"/>
          </a:p>
        </p:txBody>
      </p:sp>
      <p:sp>
        <p:nvSpPr>
          <p:cNvPr id="8" name="Shape 6"/>
          <p:cNvSpPr/>
          <p:nvPr/>
        </p:nvSpPr>
        <p:spPr>
          <a:xfrm>
            <a:off x="822960" y="3044952"/>
            <a:ext cx="10378440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6350">
            <a:solidFill>
              <a:srgbClr val="E4E7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51560" y="3145536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31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Профиль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3200400" y="3145536"/>
            <a:ext cx="7589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747B8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Описание, навыки, прогресс заполнения, quick update</a:t>
            </a:r>
            <a:endParaRPr lang="en-US" sz="1020" dirty="0"/>
          </a:p>
        </p:txBody>
      </p:sp>
      <p:sp>
        <p:nvSpPr>
          <p:cNvPr id="11" name="Shape 9"/>
          <p:cNvSpPr/>
          <p:nvPr/>
        </p:nvSpPr>
        <p:spPr>
          <a:xfrm>
            <a:off x="822960" y="3666744"/>
            <a:ext cx="10378440" cy="438912"/>
          </a:xfrm>
          <a:prstGeom prst="roundRect">
            <a:avLst>
              <a:gd name="adj" fmla="val 8333"/>
            </a:avLst>
          </a:prstGeom>
          <a:solidFill>
            <a:srgbClr val="EEF0F3"/>
          </a:solidFill>
          <a:ln w="6350">
            <a:solidFill>
              <a:srgbClr val="E4E7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51560" y="3767328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31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Проекты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3200400" y="3767328"/>
            <a:ext cx="7589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747B8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CRUD карточек с названием, идеей, стеком и ролями</a:t>
            </a:r>
            <a:endParaRPr lang="en-US" sz="1020" dirty="0"/>
          </a:p>
        </p:txBody>
      </p:sp>
      <p:sp>
        <p:nvSpPr>
          <p:cNvPr id="14" name="Shape 12"/>
          <p:cNvSpPr/>
          <p:nvPr/>
        </p:nvSpPr>
        <p:spPr>
          <a:xfrm>
            <a:off x="822960" y="4288536"/>
            <a:ext cx="10378440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6350">
            <a:solidFill>
              <a:srgbClr val="E4E7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51560" y="4389120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31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Поиск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3200400" y="4389120"/>
            <a:ext cx="7589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747B8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Проекты и пользователи по ключевым словам и навыкам</a:t>
            </a:r>
            <a:endParaRPr lang="en-US" sz="1020" dirty="0"/>
          </a:p>
        </p:txBody>
      </p:sp>
      <p:sp>
        <p:nvSpPr>
          <p:cNvPr id="17" name="Shape 15"/>
          <p:cNvSpPr/>
          <p:nvPr/>
        </p:nvSpPr>
        <p:spPr>
          <a:xfrm>
            <a:off x="822960" y="4910328"/>
            <a:ext cx="10378440" cy="438912"/>
          </a:xfrm>
          <a:prstGeom prst="roundRect">
            <a:avLst>
              <a:gd name="adj" fmla="val 8333"/>
            </a:avLst>
          </a:prstGeom>
          <a:solidFill>
            <a:srgbClr val="EEF0F3"/>
          </a:solidFill>
          <a:ln w="6350">
            <a:solidFill>
              <a:srgbClr val="E4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51560" y="5010912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31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Заявки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3200400" y="5010912"/>
            <a:ext cx="7589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747B8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Отклик участника и решение владельца проекта</a:t>
            </a:r>
            <a:endParaRPr lang="en-US" sz="1020" dirty="0"/>
          </a:p>
        </p:txBody>
      </p:sp>
      <p:sp>
        <p:nvSpPr>
          <p:cNvPr id="20" name="Text 18"/>
          <p:cNvSpPr/>
          <p:nvPr/>
        </p:nvSpPr>
        <p:spPr>
          <a:xfrm>
            <a:off x="685800" y="63550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8B919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Scope соответствует docs/README.md и src/shared/api/contracts.ts.</a:t>
            </a:r>
            <a:endParaRPr lang="en-US" sz="78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008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B919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13232" y="658368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477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АРХИТЕКТУРА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685800" y="960120"/>
            <a:ext cx="7132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2D31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React + Fastify + PostgreSQL/Redis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13232" y="1783080"/>
            <a:ext cx="6492240" cy="5669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747B8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Фронтенд и backend используют общий TypeScript-контракт, а mock-режим поддерживает стабильный демо-сценарий.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822960" y="2560320"/>
            <a:ext cx="251460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560320"/>
            <a:ext cx="73152" cy="1234440"/>
          </a:xfrm>
          <a:prstGeom prst="rect">
            <a:avLst/>
          </a:prstGeom>
          <a:solidFill>
            <a:srgbClr val="48A7FF"/>
          </a:solidFill>
          <a:ln w="12700">
            <a:solidFill>
              <a:srgbClr val="48A7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24128" y="2706624"/>
            <a:ext cx="2130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2D31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Frontend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24128" y="3090672"/>
            <a:ext cx="2130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47B8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React, TypeScript, React Router, CSS. Protected routes и AppShell для рабочих экранов.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703320" y="2560320"/>
            <a:ext cx="251460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703320" y="2560320"/>
            <a:ext cx="73152" cy="1234440"/>
          </a:xfrm>
          <a:prstGeom prst="rect">
            <a:avLst/>
          </a:prstGeom>
          <a:solidFill>
            <a:srgbClr val="2F9B66"/>
          </a:solidFill>
          <a:ln w="12700">
            <a:solidFill>
              <a:srgbClr val="2F9B6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04488" y="2706624"/>
            <a:ext cx="2130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2D31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API contract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904488" y="3090672"/>
            <a:ext cx="2130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47B8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src/shared/api: httpApi и mockApi реализуют один интерфейс клиента.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583680" y="2560320"/>
            <a:ext cx="251460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583680" y="2560320"/>
            <a:ext cx="73152" cy="1234440"/>
          </a:xfrm>
          <a:prstGeom prst="rect">
            <a:avLst/>
          </a:prstGeom>
          <a:solidFill>
            <a:srgbClr val="DE7D2A"/>
          </a:solidFill>
          <a:ln w="12700">
            <a:solidFill>
              <a:srgbClr val="DE7D2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784848" y="2706624"/>
            <a:ext cx="2130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2D31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Backend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784848" y="3090672"/>
            <a:ext cx="2130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47B8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Node.js, Fastify, Drizzle. REST-маршруты auth/profile/projects/search/applications.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9464040" y="2560320"/>
            <a:ext cx="182880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464040" y="2560320"/>
            <a:ext cx="73152" cy="1234440"/>
          </a:xfrm>
          <a:prstGeom prst="rect">
            <a:avLst/>
          </a:prstGeom>
          <a:solidFill>
            <a:srgbClr val="D45573"/>
          </a:solidFill>
          <a:ln w="12700">
            <a:solidFill>
              <a:srgbClr val="D4557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665208" y="2706624"/>
            <a:ext cx="14447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2D31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Storage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9665208" y="3090672"/>
            <a:ext cx="14447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47B8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PostgreSQL для данных, Redis для refresh/rate-limit.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3401568" y="3182112"/>
            <a:ext cx="256032" cy="0"/>
          </a:xfrm>
          <a:prstGeom prst="line">
            <a:avLst/>
          </a:prstGeom>
          <a:noFill/>
          <a:ln w="25400">
            <a:solidFill>
              <a:srgbClr val="48A7FF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6281928" y="3182112"/>
            <a:ext cx="256032" cy="0"/>
          </a:xfrm>
          <a:prstGeom prst="line">
            <a:avLst/>
          </a:prstGeom>
          <a:noFill/>
          <a:ln w="25400">
            <a:solidFill>
              <a:srgbClr val="48A7FF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9162288" y="3182112"/>
            <a:ext cx="256032" cy="0"/>
          </a:xfrm>
          <a:prstGeom prst="line">
            <a:avLst/>
          </a:prstGeom>
          <a:noFill/>
          <a:ln w="25400">
            <a:solidFill>
              <a:srgbClr val="48A7FF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1325880" y="4572000"/>
            <a:ext cx="950976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325880" y="4572000"/>
            <a:ext cx="73152" cy="731520"/>
          </a:xfrm>
          <a:prstGeom prst="rect">
            <a:avLst/>
          </a:prstGeom>
          <a:solidFill>
            <a:srgbClr val="2477B8"/>
          </a:solidFill>
          <a:ln w="12700">
            <a:solidFill>
              <a:srgbClr val="2477B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527048" y="4718304"/>
            <a:ext cx="91257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2D31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Sprint 5 fix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1527048" y="5102352"/>
            <a:ext cx="912571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47B8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Восстановление сессии перенесено в единый API contract: httpApi использует /api/auth/refresh, mockApi восстанавливает активную mock-сессию из localStorage.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008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B919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13232" y="658368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477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ДЕМО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685800" y="960120"/>
            <a:ext cx="7132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2D31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Один сценарий показывает ценность MVP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13232" y="1783080"/>
            <a:ext cx="6492240" cy="5669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747B8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Путь можно пройти в mock-режиме для защиты или через backend на опубликованном стенде.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85800" y="2240280"/>
            <a:ext cx="315468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" y="2240280"/>
            <a:ext cx="73152" cy="960120"/>
          </a:xfrm>
          <a:prstGeom prst="rect">
            <a:avLst/>
          </a:prstGeom>
          <a:solidFill>
            <a:srgbClr val="48A7FF"/>
          </a:solidFill>
          <a:ln w="12700">
            <a:solidFill>
              <a:srgbClr val="48A7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86968" y="2386584"/>
            <a:ext cx="2770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2D31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1. Капитан регистрируется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86968" y="2770632"/>
            <a:ext cx="27706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47B8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Шаг подтверждается через текущий UI.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480560" y="2240280"/>
            <a:ext cx="315468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480560" y="2240280"/>
            <a:ext cx="73152" cy="960120"/>
          </a:xfrm>
          <a:prstGeom prst="rect">
            <a:avLst/>
          </a:prstGeom>
          <a:solidFill>
            <a:srgbClr val="2F9B66"/>
          </a:solidFill>
          <a:ln w="12700">
            <a:solidFill>
              <a:srgbClr val="2F9B6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81728" y="2386584"/>
            <a:ext cx="2770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2D31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2. Создает проект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681728" y="2770632"/>
            <a:ext cx="27706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47B8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Шаг подтверждается через текущий UI.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8275320" y="2240280"/>
            <a:ext cx="315468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75320" y="2240280"/>
            <a:ext cx="73152" cy="960120"/>
          </a:xfrm>
          <a:prstGeom prst="rect">
            <a:avLst/>
          </a:prstGeom>
          <a:solidFill>
            <a:srgbClr val="48A7FF"/>
          </a:solidFill>
          <a:ln w="12700">
            <a:solidFill>
              <a:srgbClr val="48A7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76488" y="2386584"/>
            <a:ext cx="2770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2D31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3. Участник заполняет профиль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476488" y="2770632"/>
            <a:ext cx="27706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47B8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Навык участника становится поисковым сигналом.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85800" y="4041648"/>
            <a:ext cx="315468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85800" y="4041648"/>
            <a:ext cx="73152" cy="960120"/>
          </a:xfrm>
          <a:prstGeom prst="rect">
            <a:avLst/>
          </a:prstGeom>
          <a:solidFill>
            <a:srgbClr val="2F9B66"/>
          </a:solidFill>
          <a:ln w="12700">
            <a:solidFill>
              <a:srgbClr val="2F9B6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86968" y="4187952"/>
            <a:ext cx="2770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2D31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4. Ищет проект по React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86968" y="4572000"/>
            <a:ext cx="27706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47B8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Шаг подтверждается через текущий UI.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480560" y="4041648"/>
            <a:ext cx="315468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480560" y="4041648"/>
            <a:ext cx="73152" cy="960120"/>
          </a:xfrm>
          <a:prstGeom prst="rect">
            <a:avLst/>
          </a:prstGeom>
          <a:solidFill>
            <a:srgbClr val="48A7FF"/>
          </a:solidFill>
          <a:ln w="12700">
            <a:solidFill>
              <a:srgbClr val="48A7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681728" y="4187952"/>
            <a:ext cx="2770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2D31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5. Отправляет заявку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681728" y="4572000"/>
            <a:ext cx="27706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47B8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Шаг подтверждается через текущий UI.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8275320" y="4041648"/>
            <a:ext cx="315468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275320" y="4041648"/>
            <a:ext cx="73152" cy="960120"/>
          </a:xfrm>
          <a:prstGeom prst="rect">
            <a:avLst/>
          </a:prstGeom>
          <a:solidFill>
            <a:srgbClr val="2F9B66"/>
          </a:solidFill>
          <a:ln w="12700">
            <a:solidFill>
              <a:srgbClr val="2F9B6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476488" y="4187952"/>
            <a:ext cx="2770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2D31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6. Капитан принимает решение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8476488" y="4572000"/>
            <a:ext cx="27706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47B8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Владелец видит кандидата, сообщение и навыки.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008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B919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13232" y="658368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477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QA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685800" y="960120"/>
            <a:ext cx="7132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2D31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Финальный gate закрывает код, сценарий и релиз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13232" y="1783080"/>
            <a:ext cx="6492240" cy="5669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747B8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Проверки разделены на быстрые контрактные тесты, backend suite, production build и browser smoke.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22960" y="2468880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2F9B6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PASS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822960" y="2907792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47B8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npm run test:frontend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2971800" y="2468880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2F9B6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PASS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2971800" y="2907792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47B8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npm run build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120640" y="2468880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2F9B6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PASS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120640" y="2907792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47B8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npm run lint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7269480" y="2468880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DE7D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31/80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7269480" y="2907792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47B8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backend локально: Docker suites skipped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822960" y="3840480"/>
            <a:ext cx="493776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3840480"/>
            <a:ext cx="73152" cy="1097280"/>
          </a:xfrm>
          <a:prstGeom prst="rect">
            <a:avLst/>
          </a:prstGeom>
          <a:solidFill>
            <a:srgbClr val="48A7FF"/>
          </a:solidFill>
          <a:ln w="12700">
            <a:solidFill>
              <a:srgbClr val="48A7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24128" y="3986784"/>
            <a:ext cx="45537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2D31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Regression added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024128" y="4370832"/>
            <a:ext cx="4553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47B8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mockApi.restoreSession защищает восстановление активной mock-сессии после перезагрузки клиента.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263640" y="3840480"/>
            <a:ext cx="493776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63640" y="3840480"/>
            <a:ext cx="73152" cy="1097280"/>
          </a:xfrm>
          <a:prstGeom prst="rect">
            <a:avLst/>
          </a:prstGeom>
          <a:solidFill>
            <a:srgbClr val="2F9B66"/>
          </a:solidFill>
          <a:ln w="12700">
            <a:solidFill>
              <a:srgbClr val="2F9B6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64808" y="3986784"/>
            <a:ext cx="45537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2D31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Browser smoke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464808" y="4370832"/>
            <a:ext cx="4553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47B8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Прямой переход на /projects/new больше не выкидывает пользователя на /login в mock-демо.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685800" y="63550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8B919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Полный список gate: docs/test-plan.md и docs/testing/SPRINT5_TEST_CHECKLIST.md.</a:t>
            </a:r>
            <a:endParaRPr lang="en-US" sz="78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008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B919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13232" y="658368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477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ДЕПЛОЙ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685800" y="960120"/>
            <a:ext cx="7132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2D31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Репозиторий готов к публикации через Docker/Nginx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13232" y="1783080"/>
            <a:ext cx="6492240" cy="5669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747B8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Финальная публикация зависит от доступов к VDS/DNS; в коде подготовлен контейнерный путь запуска.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822960" y="2560320"/>
            <a:ext cx="301752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560320"/>
            <a:ext cx="73152" cy="1188720"/>
          </a:xfrm>
          <a:prstGeom prst="rect">
            <a:avLst/>
          </a:prstGeom>
          <a:solidFill>
            <a:srgbClr val="48A7FF"/>
          </a:solidFill>
          <a:ln w="12700">
            <a:solidFill>
              <a:srgbClr val="48A7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24128" y="2706624"/>
            <a:ext cx="2633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2D31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Build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24128" y="3090672"/>
            <a:ext cx="26334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47B8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npm run build собирает frontend, backend собирается отдельно через npm run build:backend.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251960" y="2560320"/>
            <a:ext cx="301752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251960" y="2560320"/>
            <a:ext cx="73152" cy="1188720"/>
          </a:xfrm>
          <a:prstGeom prst="rect">
            <a:avLst/>
          </a:prstGeom>
          <a:solidFill>
            <a:srgbClr val="2F9B66"/>
          </a:solidFill>
          <a:ln w="12700">
            <a:solidFill>
              <a:srgbClr val="2F9B6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53128" y="2706624"/>
            <a:ext cx="2633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2D31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Docker Compose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453128" y="3090672"/>
            <a:ext cx="26334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47B8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Postgres, Redis, API и frontend/Nginx описаны в docker/docker-compose.yml.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7680960" y="2560320"/>
            <a:ext cx="301752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680960" y="2560320"/>
            <a:ext cx="73152" cy="1188720"/>
          </a:xfrm>
          <a:prstGeom prst="rect">
            <a:avLst/>
          </a:prstGeom>
          <a:solidFill>
            <a:srgbClr val="DE7D2A"/>
          </a:solidFill>
          <a:ln w="12700">
            <a:solidFill>
              <a:srgbClr val="DE7D2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882128" y="2706624"/>
            <a:ext cx="2633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2D31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Runtime checks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7882128" y="3090672"/>
            <a:ext cx="26334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47B8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/healthz, /readyz, SPA fallback и основной пользовательский сценарий.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1828800" y="4572000"/>
            <a:ext cx="845820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828800" y="4572000"/>
            <a:ext cx="73152" cy="713232"/>
          </a:xfrm>
          <a:prstGeom prst="rect">
            <a:avLst/>
          </a:prstGeom>
          <a:solidFill>
            <a:srgbClr val="D45573"/>
          </a:solidFill>
          <a:ln w="12700">
            <a:solidFill>
              <a:srgbClr val="D4557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029968" y="4718304"/>
            <a:ext cx="80741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2D31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Ограничение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2029968" y="5102352"/>
            <a:ext cx="807415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47B8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Из текущей среды teamnova.tw1.su не резолвится, поэтому финальная DNS/hosting-проверка требует внешнего доступа.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008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B919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13232" y="658368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477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ИТОГ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685800" y="960120"/>
            <a:ext cx="7132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2D31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MVP готов к финальной проверке и PR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13232" y="1783080"/>
            <a:ext cx="6492240" cy="5669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747B8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Сайт добит до состояния защиты: рабочий сценарий, QA-доки, release checklist и презентация.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822960" y="2423160"/>
            <a:ext cx="4754880" cy="987552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423160"/>
            <a:ext cx="73152" cy="987552"/>
          </a:xfrm>
          <a:prstGeom prst="rect">
            <a:avLst/>
          </a:prstGeom>
          <a:solidFill>
            <a:srgbClr val="2F9B66"/>
          </a:solidFill>
          <a:ln w="12700">
            <a:solidFill>
              <a:srgbClr val="2F9B6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24128" y="2569464"/>
            <a:ext cx="43708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2D31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Функциональность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24128" y="2953512"/>
            <a:ext cx="4370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47B8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Auth, профиль, проекты, поиск и заявки закрывают MVP.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6172200" y="2423160"/>
            <a:ext cx="4754880" cy="987552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172200" y="2423160"/>
            <a:ext cx="73152" cy="987552"/>
          </a:xfrm>
          <a:prstGeom prst="rect">
            <a:avLst/>
          </a:prstGeom>
          <a:solidFill>
            <a:srgbClr val="48A7FF"/>
          </a:solidFill>
          <a:ln w="12700">
            <a:solidFill>
              <a:srgbClr val="48A7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73368" y="2569464"/>
            <a:ext cx="43708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2D31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Качество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373368" y="2953512"/>
            <a:ext cx="4370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47B8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Добавлена regression-защита и browser smoke для демо-блокера.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822960" y="3840480"/>
            <a:ext cx="4754880" cy="987552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3840480"/>
            <a:ext cx="73152" cy="987552"/>
          </a:xfrm>
          <a:prstGeom prst="rect">
            <a:avLst/>
          </a:prstGeom>
          <a:solidFill>
            <a:srgbClr val="DE7D2A"/>
          </a:solidFill>
          <a:ln w="12700">
            <a:solidFill>
              <a:srgbClr val="DE7D2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24128" y="3986784"/>
            <a:ext cx="43708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2D31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Документы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024128" y="4370832"/>
            <a:ext cx="4370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47B8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README, test-plan, status, checklist и презентация синхронизированы.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172200" y="3840480"/>
            <a:ext cx="4754880" cy="987552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172200" y="3840480"/>
            <a:ext cx="73152" cy="987552"/>
          </a:xfrm>
          <a:prstGeom prst="rect">
            <a:avLst/>
          </a:prstGeom>
          <a:solidFill>
            <a:srgbClr val="D45573"/>
          </a:solidFill>
          <a:ln w="12700">
            <a:solidFill>
              <a:srgbClr val="D4557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73368" y="3986784"/>
            <a:ext cx="43708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2D31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Публикация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373368" y="4370832"/>
            <a:ext cx="4370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47B8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Дальше: commit, push, draft PR в main как production-ready базу.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3977640" y="571500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D31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TEAMNOVA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008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B919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Teamnova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Teamnova Final Sprint 5</dc:title>
  <dc:subject>Sprint 5 final presentation</dc:subject>
  <dc:creator>Teamnova</dc:creator>
  <cp:lastModifiedBy>Teamnova</cp:lastModifiedBy>
  <cp:revision>1</cp:revision>
  <dcterms:created xsi:type="dcterms:W3CDTF">2026-05-16T10:02:28Z</dcterms:created>
  <dcterms:modified xsi:type="dcterms:W3CDTF">2026-05-16T10:02:28Z</dcterms:modified>
</cp:coreProperties>
</file>